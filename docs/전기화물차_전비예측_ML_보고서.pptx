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28016" cy="12801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5331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ML 분석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전기 화물차 구간 전력 소비량 예측 모델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9D6E8"/>
                </a:solidFill>
                <a:latin typeface="맑은 고딕"/>
              </a:rPr>
              <a:t>머신러닝 기반 전비 예측체계 구축 및 휴게소 충전소 추천 시스템 개발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074920"/>
            <a:ext cx="2743200" cy="15240"/>
          </a:xfrm>
          <a:prstGeom prst="rect">
            <a:avLst/>
          </a:prstGeom>
          <a:solidFill>
            <a:srgbClr val="3A4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[소속 · 이름]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9D6E8"/>
                </a:solidFill>
                <a:latin typeface="맑은 고딕"/>
              </a:rPr>
              <a:t>2026. 8. 28.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6181D"/>
                </a:solidFill>
                <a:latin typeface="맑은 고딕"/>
              </a:rPr>
              <a:t>목차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44168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B6834"/>
                </a:solidFill>
                <a:latin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25880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81D"/>
                </a:solidFill>
                <a:latin typeface="맑은 고딕"/>
              </a:rPr>
              <a:t>비즈니스 문제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현장 이슈 및 분석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143560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75688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85416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B6834"/>
                </a:solidFill>
                <a:latin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16712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81D"/>
                </a:solidFill>
                <a:latin typeface="맑은 고딕"/>
              </a:rPr>
              <a:t>데이터 탐색 및 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8716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데이터 구조 · 상관관계 · 기온/배터리 분석 · 전처리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276856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04–06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16936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26664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B6834"/>
                </a:solidFill>
                <a:latin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08376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81D"/>
                </a:solidFill>
                <a:latin typeface="맑은 고딕"/>
              </a:rPr>
              <a:t>모델 설계 및 성능 평가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28416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9개 모델 비교 · 산점도 · 특성 중요도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311810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07–09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67912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B6834"/>
                </a:solidFill>
                <a:latin typeface="맑은 고딕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49624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81D"/>
                </a:solidFill>
                <a:latin typeface="맑은 고딕"/>
              </a:rPr>
              <a:t>의사결정 제언 및 활용 계획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16966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실무 적용 시나리오 및 향후 과제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395935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99432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0916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B6834"/>
                </a:solidFill>
                <a:latin typeface="맑은 고딕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690872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81D"/>
                </a:solidFill>
                <a:latin typeface="맑은 고딕"/>
              </a:rPr>
              <a:t>프로젝트 성과 요약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01091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최종 결과 및 기대효과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48006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11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440680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550408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B6834"/>
                </a:solidFill>
                <a:latin typeface="맑은 고딕"/>
              </a:rPr>
              <a:t>별첨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532120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181D"/>
                </a:solidFill>
                <a:latin typeface="맑은 고딕"/>
              </a:rPr>
              <a:t>웹앱 구현 (Streamlit)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85216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휴게소 충전소 추천 대시보드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564184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12–13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전기 화물차 전비 예측 ML 프로젝트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6181D"/>
                </a:solidFill>
                <a:latin typeface="맑은 고딕"/>
              </a:rPr>
              <a:t>01 비즈니스 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공인 전비와 실주행 오차를 예측 체계로 전환, 충전·정차 계획의 리스크 차단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99616"/>
            <a:ext cx="32826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공인 대비 실주행 오차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828800"/>
            <a:ext cx="328269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Volvo FH Electric 공인 전비는 460kWh/470km(25~30t·80km/h) 기준입니다. 국내 도로법 상한 40t 만재로 90km/h 주행하면 전비가 크게 달라져, 부산→인천공항 423km 운행에서 충전 횟수가 1회에서 2회로 바뀝니다.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7160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1499616"/>
            <a:ext cx="32826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운영 손실 확대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1828800"/>
            <a:ext cx="328269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충전 1회는 20→80% 기준 약 65분입니다. 100kW 충전기라면 약 3시간 15분까지 늘어나 계획이 어긋난 만큼 그대로 운영 손실로 이어집니다.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499616"/>
            <a:ext cx="328269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정차 계획의 비효율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828800"/>
            <a:ext cx="3282696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화물자동차 운수사업법상 2시간 연속운전마다 15분 이상 휴게가 의무입니다. 충전과 법정 휴게를 같은 지점에서 겹치지 못하면 정차 횟수·시간이 불필요하게 늘어납니다.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118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6181D"/>
                </a:solidFill>
                <a:latin typeface="맑은 고딕"/>
              </a:rPr>
              <a:t>문제 재정의 프레임워크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23360"/>
            <a:ext cx="2688336" cy="1417320"/>
          </a:xfrm>
          <a:prstGeom prst="roundRect">
            <a:avLst>
              <a:gd name="adj" fmla="val 8000"/>
            </a:avLst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23225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C99A"/>
                </a:solidFill>
                <a:latin typeface="맑은 고딕"/>
              </a:rPr>
              <a:t>업무 이슈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23225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공인 전비와 실주행 조건의 괴리</a:t>
            </a:r>
          </a:p>
        </p:txBody>
      </p:sp>
      <p:sp>
        <p:nvSpPr>
          <p:cNvPr id="18" name="Chevron 17"/>
          <p:cNvSpPr/>
          <p:nvPr/>
        </p:nvSpPr>
        <p:spPr>
          <a:xfrm>
            <a:off x="3127248" y="4526280"/>
            <a:ext cx="201168" cy="274320"/>
          </a:xfrm>
          <a:prstGeom prst="chevron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73552" y="4023360"/>
            <a:ext cx="2688336" cy="1417320"/>
          </a:xfrm>
          <a:prstGeom prst="roundRect">
            <a:avLst>
              <a:gd name="adj" fmla="val 8000"/>
            </a:avLst>
          </a:prstGeom>
          <a:solidFill>
            <a:srgbClr val="16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4206240"/>
            <a:ext cx="23225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C99A"/>
                </a:solidFill>
                <a:latin typeface="맑은 고딕"/>
              </a:rPr>
              <a:t>예측 대상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4572000"/>
            <a:ext cx="23225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구간 전력 소비량 (kWh/100km)</a:t>
            </a:r>
          </a:p>
        </p:txBody>
      </p:sp>
      <p:sp>
        <p:nvSpPr>
          <p:cNvPr id="22" name="Chevron 21"/>
          <p:cNvSpPr/>
          <p:nvPr/>
        </p:nvSpPr>
        <p:spPr>
          <a:xfrm>
            <a:off x="5943600" y="4526280"/>
            <a:ext cx="201168" cy="274320"/>
          </a:xfrm>
          <a:prstGeom prst="chevron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89904" y="4023360"/>
            <a:ext cx="2688336" cy="1417320"/>
          </a:xfrm>
          <a:prstGeom prst="roundRect">
            <a:avLst>
              <a:gd name="adj" fmla="val 8000"/>
            </a:avLst>
          </a:prstGeom>
          <a:solidFill>
            <a:srgbClr val="16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2784" y="4206240"/>
            <a:ext cx="23225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C99A"/>
                </a:solidFill>
                <a:latin typeface="맑은 고딕"/>
              </a:rPr>
              <a:t>분석 목표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4572000"/>
            <a:ext cx="23225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주행·환경 조건으로 전비 예측</a:t>
            </a:r>
          </a:p>
        </p:txBody>
      </p:sp>
      <p:sp>
        <p:nvSpPr>
          <p:cNvPr id="26" name="Chevron 25"/>
          <p:cNvSpPr/>
          <p:nvPr/>
        </p:nvSpPr>
        <p:spPr>
          <a:xfrm>
            <a:off x="8759952" y="4526280"/>
            <a:ext cx="201168" cy="274320"/>
          </a:xfrm>
          <a:prstGeom prst="chevron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06256" y="4023360"/>
            <a:ext cx="2688336" cy="1417320"/>
          </a:xfrm>
          <a:prstGeom prst="roundRect">
            <a:avLst>
              <a:gd name="adj" fmla="val 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9136" y="4206240"/>
            <a:ext cx="23225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활용 방안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4572000"/>
            <a:ext cx="23225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휴게소 추천 · 정차 계획 자동화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전기 화물차 전비 예측 ML 프로젝트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6181D"/>
                </a:solidFill>
                <a:latin typeface="맑은 고딕"/>
              </a:rPr>
              <a:t>02 데이터 탐색 및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8,000건 주행 데이터에 물리 기반 파생변수 5종 추가, 예측 표현력 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181D"/>
                </a:solidFill>
                <a:latin typeface="맑은 고딕"/>
              </a:rPr>
              <a:t>데이터 구성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55778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023360"/>
              </a:tblGrid>
              <a:tr h="46634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독립변수 (주행)</a:t>
                      </a:r>
                    </a:p>
                  </a:txBody>
                  <a:tcPr marL="76200" marT="50800" marB="50800" anchor="ctr"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맑은 고딕"/>
                        </a:rPr>
                        <a:t>speed_kmh, payload_kg, trip_distance_km, driving_style_index</a:t>
                      </a:r>
                    </a:p>
                  </a:txBody>
                  <a:tcPr marL="76200" marT="50800" marB="50800" anchor="ctr">
                    <a:solidFill>
                      <a:srgbClr val="F5F6F8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독립변수 (환경)</a:t>
                      </a:r>
                    </a:p>
                  </a:txBody>
                  <a:tcPr marL="76200" marT="50800" marB="50800" anchor="ctr"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맑은 고딕"/>
                        </a:rPr>
                        <a:t>ambient_temp_C, road_grade_pct</a:t>
                      </a:r>
                    </a:p>
                  </a:txBody>
                  <a:tcPr marL="76200" marT="50800" marB="508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독립변수 (차량상태)</a:t>
                      </a:r>
                    </a:p>
                  </a:txBody>
                  <a:tcPr marL="76200" marT="50800" marB="50800" anchor="ctr"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맑은 고딕"/>
                        </a:rPr>
                        <a:t>hvac_power_kw, battery_temp_C, tire_pressure_bar</a:t>
                      </a:r>
                    </a:p>
                  </a:txBody>
                  <a:tcPr marL="76200" marT="50800" marB="50800" anchor="ctr">
                    <a:solidFill>
                      <a:srgbClr val="F5F6F8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파생변수 (5종)</a:t>
                      </a:r>
                    </a:p>
                  </a:txBody>
                  <a:tcPr marL="76200" marT="50800" marB="50800" anchor="ctr"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맑은 고딕"/>
                        </a:rPr>
                        <a:t>speed_sq, payload_grade, temp_dev, hvac_per_speed, tire_dev</a:t>
                      </a:r>
                    </a:p>
                  </a:txBody>
                  <a:tcPr marL="76200" marT="50800" marB="50800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</a:rPr>
                        <a:t>타깃변수</a:t>
                      </a:r>
                    </a:p>
                  </a:txBody>
                  <a:tcPr marL="76200" marT="50800" marB="50800" anchor="ctr"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6181D"/>
                          </a:solidFill>
                          <a:latin typeface="맑은 고딕"/>
                        </a:rPr>
                        <a:t>energy_consumption_kwhper100km</a:t>
                      </a:r>
                    </a:p>
                  </a:txBody>
                  <a:tcPr marL="76200" marT="50800" marB="50800"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cell0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816636"/>
            <a:ext cx="5486400" cy="17616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4251960"/>
            <a:ext cx="5577840" cy="1463040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4379976"/>
            <a:ext cx="52486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파생변수 도입 필요성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709160"/>
            <a:ext cx="52486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단순 변수 나열을 넘어 차량 동역학 구조를 변수로 반영했습니다. payload_grade(적재량×구배)는 등판저항의 물리식 그대로이며, 상관계수 0.52로 전체 1위입니다.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25196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4379976"/>
            <a:ext cx="51572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타깃 분포 시사점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4709160"/>
            <a:ext cx="515721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전비가 11.6~35.0 kWh/100km에서 종 모양 분포를 보여 이상치 변환 없이 회귀 타깃으로 바로 적용 가능합니다. 다만 적재량 0~500kg은 화물차(28t)와 4.1배 스케일 차이가 있어 물리 모델과 결합이 필요합니다.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전기 화물차 전비 예측 ML 프로젝트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6181D"/>
                </a:solidFill>
                <a:latin typeface="맑은 고딕"/>
              </a:rPr>
              <a:t>02 데이터 탐색 및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payload_grade 상관계수 0.52로 1위, Data Leakage 차단 전처리로 신뢰성 확보</a:t>
            </a:r>
          </a:p>
        </p:txBody>
      </p:sp>
      <p:pic>
        <p:nvPicPr>
          <p:cNvPr id="5" name="Picture 4" descr="cell0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400" y="1371600"/>
            <a:ext cx="601472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120640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5248656"/>
            <a:ext cx="33284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구배 × 적재량 → 강도 1위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577840"/>
            <a:ext cx="33284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등판저항 = m·g·sinθ. 둘을 따로 넣으면 선형 모델이 상호작용을 못 잡아, 곱으로 만든 payload_grade가 상관 0.52로 전체 1위가 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5120640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5248656"/>
            <a:ext cx="33284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기온 → V자 비선형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5577840"/>
            <a:ext cx="33284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원본 ambient_temp_C 상관은 -0.16으로 약하지만, |기온-21°C| 로 바꾼 temp_dev는 0.20으로 정리됩니다. 냉방·난방 모두 부하를 올리는 V자 특성입니다.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5120640"/>
            <a:ext cx="3657600" cy="123444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5248656"/>
            <a:ext cx="33284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전처리 전략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5577840"/>
            <a:ext cx="33284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Train(60%)·Val(20%)·Test(20%) 분할 후 StandardScaler를 Train에서만 fit, Val·Test는 transform만 적용해 Data Leakage를 차단합니다.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전기 화물차 전비 예측 ML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6181D"/>
                </a:solidFill>
                <a:latin typeface="맑은 고딕"/>
              </a:rPr>
              <a:t>02 데이터 탐색 및 해석 — 심층분석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"기온 효과가 배터리 때문 아닌가?" 실제 데이터로 검증</a:t>
            </a:r>
          </a:p>
        </p:txBody>
      </p:sp>
      <p:pic>
        <p:nvPicPr>
          <p:cNvPr id="5" name="Picture 4" descr="cell0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54141"/>
            <a:ext cx="11247120" cy="29438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663440"/>
            <a:ext cx="11247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16181D"/>
                </a:solidFill>
                <a:latin typeface="맑은 고딕"/>
              </a:rPr>
              <a:t>결론 — 이 데이터에서는 배터리온도가 기온 때문에 변하지 않습니다. </a:t>
            </a:r>
            <a:r>
              <a:rPr sz="1300" b="0">
                <a:solidFill>
                  <a:srgbClr val="5B606B"/>
                </a:solidFill>
                <a:latin typeface="맑은 고딕"/>
              </a:rPr>
              <a:t>외기온도-배터리온도 상관계수가 -0.006으로 0에 붙어 있어, 둘은 사실상 독립적으로 생성됐습니다 (합성 데이터라 실제 열역학적 연동이 반영되지 않음).</a:t>
            </a:r>
          </a:p>
          <a:p>
            <a:pPr algn="l">
              <a:lnSpc>
                <a:spcPct val="135000"/>
              </a:lnSpc>
            </a:pPr>
            <a:r>
              <a:rPr sz="600" b="0">
                <a:solidFill>
                  <a:srgbClr val="5B606B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EB6834"/>
                </a:solidFill>
                <a:latin typeface="맑은 고딕"/>
              </a:rPr>
              <a:t>외기온도는 약한 V자 패턴</a:t>
            </a:r>
            <a:r>
              <a:rPr sz="1200" b="0">
                <a:solidFill>
                  <a:srgbClr val="5B606B"/>
                </a:solidFill>
                <a:latin typeface="맑은 고딕"/>
              </a:rPr>
              <a:t> (영하권 25.96 최고 → 20~35°C 구간 23.5 최저 → 35~40°C 24.18로 반등), </a:t>
            </a:r>
            <a:r>
              <a:rPr sz="1200" b="1">
                <a:solidFill>
                  <a:srgbClr val="EB6834"/>
                </a:solidFill>
                <a:latin typeface="맑은 고딕"/>
              </a:rPr>
              <a:t>배터리온도는 단조 감소</a:t>
            </a:r>
            <a:r>
              <a:rPr sz="1200" b="0">
                <a:solidFill>
                  <a:srgbClr val="5B606B"/>
                </a:solidFill>
                <a:latin typeface="맑은 고딕"/>
              </a:rPr>
              <a:t> (15~20°C 24.6 → 40~45°C 23.6)로 서로 다른 패턴을 보입니다. 두 변수는 별개 채널로 각자 약하게 전비에 기여할 뿐입니다.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전기 화물차 전비 예측 ML 프로젝트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6181D"/>
                </a:solidFill>
                <a:latin typeface="맑은 고딕"/>
              </a:rPr>
              <a:t>03 모델 설계 및 성능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9개 모델 비교 검증, Lasso 최고 성능(R²=0.944)으로 확정</a:t>
            </a:r>
          </a:p>
        </p:txBody>
      </p:sp>
      <p:pic>
        <p:nvPicPr>
          <p:cNvPr id="5" name="Picture 4" descr="cell1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876" y="1371600"/>
            <a:ext cx="7677768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16181D"/>
                </a:solidFill>
                <a:latin typeface="맑은 고딕"/>
              </a:rPr>
              <a:t>이 데이터에서는 선형 모델이 이겼습니다. </a:t>
            </a:r>
            <a:r>
              <a:rPr sz="1250" b="0">
                <a:solidFill>
                  <a:srgbClr val="5B606B"/>
                </a:solidFill>
                <a:latin typeface="맑은 고딕"/>
              </a:rPr>
              <a:t>원본 변수 간 상호 상관 최댓값 0.032, KS검정 결과 대부분 균등분포 — 매끄러운 수식으로 만들어진 합성 데이터라 트리 계열이 계단 근사로 손해를 봅니다. 실측 데이터로 교체하면 순위가 재선택되는 파이프라인으로 구성했습니다.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전기 화물차 전비 예측 ML 프로젝트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6181D"/>
                </a:solidFill>
                <a:latin typeface="맑은 고딕"/>
              </a:rPr>
              <a:t>03 모델 설계 및 성능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9개 모델 전체 실제값 vs 예측값 — Train R² · Test R² 동시 비교</a:t>
            </a:r>
          </a:p>
        </p:txBody>
      </p:sp>
      <p:pic>
        <p:nvPicPr>
          <p:cNvPr id="5" name="Picture 4" descr="cell2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769" y="1280160"/>
            <a:ext cx="530798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전기 화물차 전비 예측 ML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6181D"/>
                </a:solidFill>
                <a:latin typeface="맑은 고딕"/>
              </a:rPr>
              <a:t>03 모델 설계 및 성능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payload_grade가 단독 29%로 압도적 1위 — 물리적 타당성 확인</a:t>
            </a:r>
          </a:p>
        </p:txBody>
      </p:sp>
      <p:pic>
        <p:nvPicPr>
          <p:cNvPr id="5" name="Picture 4" descr="cell2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83957"/>
            <a:ext cx="6583680" cy="418152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371600"/>
            <a:ext cx="4389120" cy="196596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79792" y="1499616"/>
            <a:ext cx="4059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핵심 요인 해석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792" y="1828800"/>
            <a:ext cx="405993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payload_grade(적재량×구배)가 단독 29%로 1위입니다. 만재 트럭이 오르막을 오를 때 드는 힘이 전비를 지배한다는 물리적 해석과 일치합니다.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474720"/>
            <a:ext cx="4389120" cy="210312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9792" y="3602736"/>
            <a:ext cx="4059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현업 시사점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3931920"/>
            <a:ext cx="4059936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속도를 줄이는 것보다 적재·경로 계획이 먼저입니다. 같은 화물이라도 구배가 완만한 경로를 고르면 전비가 크게 개선되며, 이는 정차 계획에서 "어느 구간에서 SOC가 빨리 떨어지는가"를 예측하는 근거가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전기 화물차 전비 예측 ML 프로젝트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6181D"/>
                </a:solidFill>
                <a:latin typeface="맑은 고딕"/>
              </a:rPr>
              <a:t>04 의사결정 제언 및 활용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물리모델×ML보정 결합, 실시간 위치·경로 기반 정차 계획으로 현장 적용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시나리오 1 — 물리 모델 × ML 배율 결합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10789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학습 데이터가 승용차 스케일이라 절대값을 못 쓰는 문제를, 물리 모델(질량·속도·경사)이 절대 수준을 잡고 ML은 기온·운전성향의 상대 배율만 보정하는 방식으로 해결했습니다.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7860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시나리오 2 — 법정 휴게시간 × 충전 시점 통합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10789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2시간 연속운전마다 15분 이상 휴게 의무를 충전과 같은 지점에서 겹치면 짧은 쪽이 흡수되어 불필요한 정차를 줄입니다.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204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3016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시나리오 3 — 실시간 위치·경로 기반 추천 (웹앱 구현)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77640"/>
            <a:ext cx="10789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현재 위치 근처 최적 휴게소 추천, 출발-도착 경로 위 정차 계획(SOC 시뮬레이션), data.go.kr 실시간 혼잡도까지 Streamlit 앱으로 구현했습니다 (별첨 참고).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846320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EB6834"/>
                </a:solidFill>
                <a:latin typeface="맑은 고딕"/>
              </a:rPr>
              <a:t>한계점 및 향후 과제  </a:t>
            </a:r>
            <a:r>
              <a:rPr sz="1200" b="0">
                <a:solidFill>
                  <a:srgbClr val="FFFFFF"/>
                </a:solidFill>
                <a:latin typeface="맑은 고딕"/>
              </a:rPr>
              <a:t>경로에 고도(구배) 데이터가 없어 평지로 가정합니다 — 특성중요도 1위 요인(29%)이 빠진 상태라 산악 구간은 과소평가됩니다. 국토지리정보원 DEM·브이월드 고도 API 연동이 최우선 과제입니다. 실시간 혼잡도는 data.go.kr API가 반경검색을 지원하지 않아 고속도로 인덱스(670개)에 한해서만 연동돼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전기 화물차 전비 예측 ML 프로젝트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6181D"/>
                </a:solidFill>
                <a:latin typeface="맑은 고딕"/>
              </a:rPr>
              <a:t>05 프로젝트 성과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Lasso 기반 예측체계 + 실시간 추천 웹앱 구축, 정차 계획 정확도와 현장 활용성 동시 확보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01 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527048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06B"/>
                </a:solidFill>
                <a:latin typeface="맑은 고딕"/>
              </a:rPr>
              <a:t>공인 전비(460kWh/470km)와 실주행 조건의 괴리 → 충전 계획 실패 → 운영 손실. 충전 1회 65분(100kW면 3시간15분)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04872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02 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5146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06B"/>
                </a:solidFill>
                <a:latin typeface="맑은 고딕"/>
              </a:rPr>
              <a:t>8,000건 주행 데이터 + 물리 기반 파생변수 5종 신규 생성 · Train 60/Val 20/Test 20 분할 · Data Leakage 차단 전처리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92424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50215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04 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502152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B606B"/>
                </a:solidFill>
                <a:latin typeface="맑은 고딕"/>
              </a:rPr>
              <a:t>물리모델×ML배율 결합으로 스케일 불일치 우회 → 현재위치/경로 기반 정차 계획 웹앱 구현 → 실시간 혼잡도 반영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25696"/>
            <a:ext cx="112471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62856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06B"/>
                </a:solidFill>
                <a:latin typeface="맑은 고딕"/>
              </a:rPr>
              <a:t>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82896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340"/>
                </a:solidFill>
                <a:latin typeface="맑은 고딕"/>
              </a:rPr>
              <a:t>0.944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562856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06B"/>
                </a:solidFill>
                <a:latin typeface="맑은 고딕"/>
              </a:rPr>
              <a:t>MAE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882896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340"/>
                </a:solidFill>
                <a:latin typeface="맑은 고딕"/>
              </a:rPr>
              <a:t>0.68 kWh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562856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06B"/>
                </a:solidFill>
                <a:latin typeface="맑은 고딕"/>
              </a:rPr>
              <a:t>RMSE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882896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340"/>
                </a:solidFill>
                <a:latin typeface="맑은 고딕"/>
              </a:rPr>
              <a:t>0.85 kWh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562856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606B"/>
                </a:solidFill>
                <a:latin typeface="맑은 고딕"/>
              </a:rPr>
              <a:t>핵심 요인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882896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2340"/>
                </a:solidFill>
                <a:latin typeface="맑은 고딕"/>
              </a:rPr>
              <a:t>payload_grade 29%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전기 화물차 전비 예측 ML 프로젝트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6181D"/>
                </a:solidFill>
                <a:latin typeface="맑은 고딕"/>
              </a:rPr>
              <a:t>별첨. 웹앱 구현 (Streamlit)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현재 위치 근처 고속도로 휴게소 실시간 추천 대시보드</a:t>
            </a:r>
          </a:p>
        </p:txBody>
      </p:sp>
      <p:pic>
        <p:nvPicPr>
          <p:cNvPr id="5" name="Picture 4" descr="streamlit_loc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156" y="1234440"/>
            <a:ext cx="7581207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전기 화물차 전비 예측 ML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6181D"/>
                </a:solidFill>
                <a:latin typeface="맑은 고딕"/>
              </a:rPr>
              <a:t>별첨. 웹앱 구현 (Streamlit)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06B"/>
                </a:solidFill>
                <a:latin typeface="맑은 고딕"/>
              </a:rPr>
              <a:t>출발→도착 경로 기반 정차 계획 — 부산광역시청 → 인천국제공항 (432.9km)</a:t>
            </a:r>
          </a:p>
        </p:txBody>
      </p:sp>
      <p:pic>
        <p:nvPicPr>
          <p:cNvPr id="5" name="Picture 4" descr="streamlit_rout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8750"/>
            <a:ext cx="6949439" cy="47777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18872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54112" y="1316736"/>
            <a:ext cx="37856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핵심 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4112" y="1645920"/>
            <a:ext cx="378561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· 조건 슬라이더 3개(총중량·기온·운전성향)만으로 전체 시나리오 조정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· 현재위치 기준 / 출발-도착 경로 기준 이중 추천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· 실시간 충전 혼잡도(data.go.kr) 연동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154680"/>
            <a:ext cx="4114800" cy="1600200"/>
          </a:xfrm>
          <a:prstGeom prst="roundRect">
            <a:avLst>
              <a:gd name="adj" fmla="val 6000"/>
            </a:avLst>
          </a:prstGeom>
          <a:solidFill>
            <a:srgbClr val="EAF1FB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3282696"/>
            <a:ext cx="37856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실무 의의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3611880"/>
            <a:ext cx="378561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SOC 시뮬레이션으로 몇 회, 어디서 충전해야 하는지 자동 계산해 정차 계획을 표준화하고, 고속도로 휴게소만 정확히 필터링(kind=C0)해 나들목 밖 추천 오류를 없앴습니다.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892040"/>
            <a:ext cx="4114800" cy="1508760"/>
          </a:xfrm>
          <a:prstGeom prst="roundRect">
            <a:avLst>
              <a:gd name="adj" fmla="val 6000"/>
            </a:avLst>
          </a:prstGeom>
          <a:solidFill>
            <a:srgbClr val="FDF1EA"/>
          </a:solidFill>
          <a:ln w="9525">
            <a:solidFill>
              <a:srgbClr val="E2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2" y="5020056"/>
            <a:ext cx="37856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B6834"/>
                </a:solidFill>
                <a:latin typeface="맑은 고딕"/>
              </a:rPr>
              <a:t>향후 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5349240"/>
            <a:ext cx="37856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5B606B"/>
                </a:solidFill>
                <a:latin typeface="맑은 고딕"/>
              </a:rPr>
              <a:t>고도(DEM) 연동으로 구배 반영, 전국 충전소로 실시간 혼잡도 매칭 확장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전기 화물차 전비 예측 ML 프로젝트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B606B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